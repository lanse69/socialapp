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6" r:id="rId3"/>
    <p:sldId id="257" r:id="rId4"/>
    <p:sldId id="265" r:id="rId5"/>
    <p:sldId id="258" r:id="rId6"/>
    <p:sldId id="260" r:id="rId7"/>
    <p:sldId id="261" r:id="rId8"/>
    <p:sldId id="266" r:id="rId9"/>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聊天系统</a:t>
            </a:r>
            <a:endParaRPr lang="zh-CN" altLang="en-US"/>
          </a:p>
        </p:txBody>
      </p:sp>
      <p:sp>
        <p:nvSpPr>
          <p:cNvPr id="5" name="副标题 4"/>
          <p:cNvSpPr>
            <a:spLocks noGrp="1"/>
          </p:cNvSpPr>
          <p:nvPr>
            <p:ph type="subTitle" idx="1"/>
          </p:nvPr>
        </p:nvSpPr>
        <p:spPr>
          <a:xfrm>
            <a:off x="5465445" y="3594735"/>
            <a:ext cx="5633720" cy="1784985"/>
          </a:xfrm>
        </p:spPr>
        <p:txBody>
          <a:bodyPr>
            <a:normAutofit/>
          </a:bodyPr>
          <a:lstStyle/>
          <a:p>
            <a:r>
              <a:rPr lang="en-US" altLang="zh-CN"/>
              <a:t>                 7</a:t>
            </a:r>
            <a:r>
              <a:rPr lang="zh-CN" altLang="en-US"/>
              <a:t>组</a:t>
            </a:r>
            <a:r>
              <a:rPr lang="en-US" altLang="zh-CN"/>
              <a:t> </a:t>
            </a:r>
            <a:endParaRPr lang="en-US" altLang="zh-CN"/>
          </a:p>
          <a:p>
            <a:r>
              <a:rPr lang="en-US" altLang="zh-CN"/>
              <a:t>                                                    </a:t>
            </a:r>
            <a:r>
              <a:rPr lang="zh-CN" altLang="en-US"/>
              <a:t>兰寅银</a:t>
            </a:r>
            <a:r>
              <a:rPr lang="en-US" altLang="zh-CN"/>
              <a:t> 2023051604042</a:t>
            </a:r>
            <a:endParaRPr lang="en-US" altLang="zh-CN"/>
          </a:p>
          <a:p>
            <a:pPr marL="1828800" lvl="4" indent="457200"/>
            <a:r>
              <a:rPr lang="en-US" altLang="zh-CN" sz="1800">
                <a:latin typeface="+mj-ea"/>
                <a:ea typeface="+mj-ea"/>
                <a:cs typeface="+mj-ea"/>
              </a:rPr>
              <a:t>   </a:t>
            </a:r>
            <a:r>
              <a:rPr lang="zh-CN" altLang="en-US" sz="1800">
                <a:solidFill>
                  <a:schemeClr val="tx1">
                    <a:lumMod val="75000"/>
                    <a:lumOff val="25000"/>
                  </a:schemeClr>
                </a:solidFill>
                <a:effectLst/>
                <a:latin typeface="+mj-lt"/>
                <a:ea typeface="+mj-ea"/>
              </a:rPr>
              <a:t>周俊 2023051604055</a:t>
            </a:r>
            <a:endParaRPr lang="en-US" altLang="zh-CN" sz="1800">
              <a:latin typeface="+mj-ea"/>
              <a:ea typeface="+mj-ea"/>
              <a:cs typeface="+mj-ea"/>
            </a:endParaRPr>
          </a:p>
          <a:p>
            <a:r>
              <a:rPr lang="en-US" altLang="zh-CN"/>
              <a:t>                                                    </a:t>
            </a:r>
            <a:r>
              <a:rPr lang="zh-CN" altLang="en-US"/>
              <a:t>朱灿银</a:t>
            </a:r>
            <a:r>
              <a:rPr lang="en-US" altLang="zh-CN"/>
              <a:t> 2023051604043</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70205" y="2483485"/>
            <a:ext cx="10793095" cy="3693795"/>
          </a:xfrm>
        </p:spPr>
        <p:txBody>
          <a:bodyPr/>
          <a:p>
            <a:pPr marL="0" indent="0">
              <a:buNone/>
            </a:pPr>
            <a:r>
              <a:rPr lang="en-US" altLang="zh-CN"/>
              <a:t>         </a:t>
            </a:r>
            <a:r>
              <a:rPr lang="zh-CN" altLang="en-US"/>
              <a:t>系统实现了加好友私聊和群聊的基本功能。还扩展了发动态，评论，回复，点赞和收藏功能，且能保存用户的观看记录，还可以修改用户的属性，给朋友设置备注。</a:t>
            </a:r>
            <a:endParaRPr lang="zh-CN" altLang="en-US"/>
          </a:p>
        </p:txBody>
      </p:sp>
      <p:sp>
        <p:nvSpPr>
          <p:cNvPr id="4" name="文本框 3"/>
          <p:cNvSpPr txBox="1"/>
          <p:nvPr/>
        </p:nvSpPr>
        <p:spPr>
          <a:xfrm>
            <a:off x="273050" y="546735"/>
            <a:ext cx="2451735" cy="398780"/>
          </a:xfrm>
          <a:prstGeom prst="rect">
            <a:avLst/>
          </a:prstGeom>
          <a:noFill/>
        </p:spPr>
        <p:txBody>
          <a:bodyPr wrap="square" rtlCol="0">
            <a:spAutoFit/>
          </a:bodyPr>
          <a:p>
            <a:r>
              <a:rPr lang="zh-CN" altLang="en-US" sz="2000" b="1"/>
              <a:t>系统的功能</a:t>
            </a:r>
            <a:endParaRPr lang="zh-CN" altLang="en-US" sz="20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分工</a:t>
            </a:r>
            <a:endParaRPr lang="zh-CN" altLang="en-US"/>
          </a:p>
        </p:txBody>
      </p:sp>
      <p:sp>
        <p:nvSpPr>
          <p:cNvPr id="3" name="内容占位符 2"/>
          <p:cNvSpPr>
            <a:spLocks noGrp="1"/>
          </p:cNvSpPr>
          <p:nvPr>
            <p:ph idx="1"/>
          </p:nvPr>
        </p:nvSpPr>
        <p:spPr/>
        <p:txBody>
          <a:bodyPr/>
          <a:p>
            <a:pPr marL="0" indent="0">
              <a:buNone/>
            </a:pPr>
            <a:r>
              <a:rPr lang="en-US" altLang="zh-CN"/>
              <a:t>    </a:t>
            </a:r>
            <a:r>
              <a:rPr lang="zh-CN" altLang="en-US"/>
              <a:t>一起讨论要实现那些功能，然后画类图。</a:t>
            </a:r>
            <a:endParaRPr lang="zh-CN" altLang="en-US"/>
          </a:p>
          <a:p>
            <a:r>
              <a:rPr lang="zh-CN" altLang="en-US"/>
              <a:t>兰寅银负责实现</a:t>
            </a:r>
            <a:r>
              <a:rPr lang="en-US" altLang="zh-CN"/>
              <a:t>Message</a:t>
            </a:r>
            <a:r>
              <a:rPr lang="zh-CN" altLang="en-US"/>
              <a:t>类，</a:t>
            </a:r>
            <a:r>
              <a:rPr lang="en-US" altLang="zh-CN"/>
              <a:t>text</a:t>
            </a:r>
            <a:r>
              <a:rPr lang="zh-CN" altLang="en-US"/>
              <a:t>类，通信，交互，服务端相关的代码，合并并修改所有人的代码，数据库操作，完成程序的部署，打包。</a:t>
            </a:r>
            <a:endParaRPr lang="zh-CN" altLang="en-US"/>
          </a:p>
          <a:p>
            <a:r>
              <a:rPr lang="zh-CN" altLang="en-US"/>
              <a:t>周俊负责实现</a:t>
            </a:r>
            <a:r>
              <a:rPr lang="en-US" altLang="zh-CN"/>
              <a:t>Post</a:t>
            </a:r>
            <a:r>
              <a:rPr lang="zh-CN" altLang="en-US"/>
              <a:t>类，</a:t>
            </a:r>
            <a:r>
              <a:rPr lang="en-US" altLang="zh-CN"/>
              <a:t>Comment</a:t>
            </a:r>
            <a:r>
              <a:rPr lang="zh-CN" altLang="en-US"/>
              <a:t>类，大部分数据库操作相关的代码。</a:t>
            </a:r>
            <a:endParaRPr lang="zh-CN" altLang="en-US"/>
          </a:p>
          <a:p>
            <a:r>
              <a:rPr lang="zh-CN" altLang="en-US"/>
              <a:t>朱灿银负责实现</a:t>
            </a:r>
            <a:r>
              <a:rPr lang="en-US" altLang="zh-CN"/>
              <a:t>User</a:t>
            </a:r>
            <a:r>
              <a:rPr lang="zh-CN" altLang="en-US"/>
              <a:t>类，</a:t>
            </a:r>
            <a:r>
              <a:rPr lang="en-US" altLang="zh-CN"/>
              <a:t>Group</a:t>
            </a:r>
            <a:r>
              <a:rPr lang="zh-CN" altLang="en-US"/>
              <a:t>类，数据库操作相关的代码。</a:t>
            </a:r>
            <a:endParaRPr lang="zh-CN" altLang="en-US"/>
          </a:p>
          <a:p>
            <a:pPr marL="0" indent="0">
              <a:buNone/>
            </a:pPr>
            <a:r>
              <a:rPr lang="en-US" altLang="zh-CN"/>
              <a:t>    </a:t>
            </a:r>
            <a:r>
              <a:rPr lang="zh-CN" altLang="en-US"/>
              <a:t>测试软件时发现了</a:t>
            </a:r>
            <a:r>
              <a:rPr lang="en-US" altLang="zh-CN"/>
              <a:t>bug</a:t>
            </a:r>
            <a:r>
              <a:rPr lang="zh-CN" altLang="en-US"/>
              <a:t>自己修改</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关键技术及难点</a:t>
            </a:r>
            <a:endParaRPr lang="zh-CN" altLang="en-US"/>
          </a:p>
        </p:txBody>
      </p:sp>
      <p:sp>
        <p:nvSpPr>
          <p:cNvPr id="3" name="内容占位符 2"/>
          <p:cNvSpPr>
            <a:spLocks noGrp="1"/>
          </p:cNvSpPr>
          <p:nvPr>
            <p:ph idx="1"/>
          </p:nvPr>
        </p:nvSpPr>
        <p:spPr/>
        <p:txBody>
          <a:bodyPr/>
          <a:p>
            <a:pPr marL="0" indent="0">
              <a:buNone/>
            </a:pPr>
            <a:r>
              <a:rPr lang="zh-CN" altLang="en-US">
                <a:sym typeface="+mn-ea"/>
              </a:rPr>
              <a:t>确定</a:t>
            </a:r>
            <a:r>
              <a:rPr lang="en-US" altLang="zh-CN">
                <a:sym typeface="+mn-ea"/>
              </a:rPr>
              <a:t>User</a:t>
            </a:r>
            <a:r>
              <a:rPr lang="zh-CN" altLang="en-US">
                <a:sym typeface="+mn-ea"/>
              </a:rPr>
              <a:t>类和其它类的关联，朋友的备注怎么实现。</a:t>
            </a:r>
            <a:endParaRPr lang="zh-CN" altLang="en-US">
              <a:sym typeface="+mn-ea"/>
            </a:endParaRPr>
          </a:p>
          <a:p>
            <a:pPr marL="0" indent="0">
              <a:buNone/>
            </a:pPr>
            <a:r>
              <a:rPr lang="zh-CN" altLang="en-US"/>
              <a:t>保存聊天记录，要确定是否有聊天记录，有就直接保存，没有就创建一个记录再保存。</a:t>
            </a:r>
            <a:endParaRPr lang="zh-CN" altLang="en-US"/>
          </a:p>
          <a:p>
            <a:pPr marL="0" indent="0">
              <a:buNone/>
            </a:pPr>
            <a:r>
              <a:rPr lang="zh-CN" altLang="en-US"/>
              <a:t>退出群聊的时候，因为群聊保存在群主那个用户里面，所以要在群主</a:t>
            </a:r>
            <a:r>
              <a:rPr lang="en-US" altLang="zh-CN"/>
              <a:t>m_createGroups</a:t>
            </a:r>
            <a:r>
              <a:rPr lang="zh-CN" altLang="en-US"/>
              <a:t>和自己的</a:t>
            </a:r>
            <a:r>
              <a:rPr lang="en-US" altLang="zh-CN"/>
              <a:t>m_joinedGroups</a:t>
            </a:r>
            <a:r>
              <a:rPr lang="zh-CN" altLang="en-US"/>
              <a:t>数组删除群成员。</a:t>
            </a:r>
            <a:endParaRPr lang="zh-CN" altLang="en-US"/>
          </a:p>
          <a:p>
            <a:pPr marL="0" indent="0">
              <a:buNone/>
            </a:pPr>
            <a:r>
              <a:rPr lang="zh-CN" altLang="en-US"/>
              <a:t>创建一个群聊时，要通知所有用户有一个新群，所有用户从数据库读新群的信息。</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1016635"/>
          </a:xfrm>
        </p:spPr>
        <p:txBody>
          <a:bodyPr/>
          <a:p>
            <a:r>
              <a:rPr lang="zh-CN" altLang="en-US"/>
              <a:t>关键技术及难点</a:t>
            </a:r>
            <a:endParaRPr lang="zh-CN" altLang="en-US"/>
          </a:p>
        </p:txBody>
      </p:sp>
      <p:sp>
        <p:nvSpPr>
          <p:cNvPr id="3" name="内容占位符 2"/>
          <p:cNvSpPr>
            <a:spLocks noGrp="1"/>
          </p:cNvSpPr>
          <p:nvPr>
            <p:ph idx="1"/>
          </p:nvPr>
        </p:nvSpPr>
        <p:spPr>
          <a:xfrm>
            <a:off x="721360" y="1584325"/>
            <a:ext cx="10515600" cy="4351338"/>
          </a:xfrm>
        </p:spPr>
        <p:txBody>
          <a:bodyPr/>
          <a:p>
            <a:pPr marL="0" indent="0">
              <a:buNone/>
            </a:pPr>
            <a:r>
              <a:rPr lang="zh-CN" altLang="en-US">
                <a:sym typeface="+mn-ea"/>
              </a:rPr>
              <a:t>技术：</a:t>
            </a:r>
            <a:r>
              <a:rPr lang="en-US" altLang="zh-CN">
                <a:sym typeface="+mn-ea"/>
              </a:rPr>
              <a:t>mysql</a:t>
            </a:r>
            <a:r>
              <a:rPr lang="zh-CN" altLang="en-US">
                <a:sym typeface="+mn-ea"/>
              </a:rPr>
              <a:t>，递归算法</a:t>
            </a:r>
            <a:endParaRPr lang="en-US" altLang="zh-CN"/>
          </a:p>
          <a:p>
            <a:pPr marL="0" indent="0">
              <a:buNone/>
            </a:pPr>
            <a:r>
              <a:rPr lang="en-US" altLang="zh-CN">
                <a:sym typeface="+mn-ea"/>
              </a:rPr>
              <a:t>1.User</a:t>
            </a:r>
            <a:r>
              <a:rPr lang="zh-CN" altLang="en-US">
                <a:sym typeface="+mn-ea"/>
              </a:rPr>
              <a:t>类与</a:t>
            </a:r>
            <a:r>
              <a:rPr lang="en-US" altLang="zh-CN">
                <a:sym typeface="+mn-ea"/>
              </a:rPr>
              <a:t>Post</a:t>
            </a:r>
            <a:r>
              <a:rPr lang="zh-CN" altLang="en-US">
                <a:sym typeface="+mn-ea"/>
              </a:rPr>
              <a:t>类和</a:t>
            </a:r>
            <a:r>
              <a:rPr lang="en-US" altLang="zh-CN">
                <a:sym typeface="+mn-ea"/>
              </a:rPr>
              <a:t>Comment</a:t>
            </a:r>
            <a:r>
              <a:rPr lang="zh-CN" altLang="en-US">
                <a:sym typeface="+mn-ea"/>
              </a:rPr>
              <a:t>类的多重组成和多重联系（例如：</a:t>
            </a:r>
            <a:r>
              <a:rPr lang="en-US" altLang="zh-CN">
                <a:sym typeface="+mn-ea"/>
              </a:rPr>
              <a:t>User</a:t>
            </a:r>
            <a:r>
              <a:rPr lang="zh-CN" altLang="en-US">
                <a:sym typeface="+mn-ea"/>
              </a:rPr>
              <a:t>类对文章的评论的回复需要</a:t>
            </a:r>
            <a:r>
              <a:rPr lang="en-US" altLang="zh-CN">
                <a:sym typeface="+mn-ea"/>
              </a:rPr>
              <a:t>Post</a:t>
            </a:r>
            <a:r>
              <a:rPr lang="zh-CN" altLang="en-US">
                <a:sym typeface="+mn-ea"/>
              </a:rPr>
              <a:t>类和</a:t>
            </a:r>
            <a:r>
              <a:rPr lang="en-US" altLang="zh-CN">
                <a:sym typeface="+mn-ea"/>
              </a:rPr>
              <a:t>Comment</a:t>
            </a:r>
            <a:r>
              <a:rPr lang="zh-CN" altLang="en-US">
                <a:sym typeface="+mn-ea"/>
              </a:rPr>
              <a:t>类的成员函数的共同参与，同时三个类之间需要进行消息传递，比如</a:t>
            </a:r>
            <a:r>
              <a:rPr lang="en-US" altLang="zh-CN">
                <a:sym typeface="+mn-ea"/>
              </a:rPr>
              <a:t>Post</a:t>
            </a:r>
            <a:r>
              <a:rPr lang="zh-CN" altLang="en-US">
                <a:sym typeface="+mn-ea"/>
              </a:rPr>
              <a:t>类需要</a:t>
            </a:r>
            <a:r>
              <a:rPr lang="en-US" altLang="zh-CN">
                <a:sym typeface="+mn-ea"/>
              </a:rPr>
              <a:t>User</a:t>
            </a:r>
            <a:r>
              <a:rPr lang="zh-CN" altLang="en-US">
                <a:sym typeface="+mn-ea"/>
              </a:rPr>
              <a:t>类判断提供的</a:t>
            </a:r>
            <a:r>
              <a:rPr lang="en-US" altLang="zh-CN">
                <a:sym typeface="+mn-ea"/>
              </a:rPr>
              <a:t>userId</a:t>
            </a:r>
            <a:r>
              <a:rPr lang="zh-CN" altLang="en-US">
                <a:sym typeface="+mn-ea"/>
              </a:rPr>
              <a:t>是否与该</a:t>
            </a:r>
            <a:r>
              <a:rPr lang="en-US" altLang="zh-CN">
                <a:sym typeface="+mn-ea"/>
              </a:rPr>
              <a:t>User</a:t>
            </a:r>
            <a:r>
              <a:rPr lang="zh-CN" altLang="en-US">
                <a:sym typeface="+mn-ea"/>
              </a:rPr>
              <a:t>类的</a:t>
            </a:r>
            <a:r>
              <a:rPr lang="en-US" altLang="zh-CN">
                <a:sym typeface="+mn-ea"/>
              </a:rPr>
              <a:t>Id</a:t>
            </a:r>
            <a:r>
              <a:rPr lang="zh-CN" altLang="en-US">
                <a:sym typeface="+mn-ea"/>
              </a:rPr>
              <a:t>相同）。</a:t>
            </a:r>
            <a:endParaRPr lang="zh-CN" altLang="en-US"/>
          </a:p>
          <a:p>
            <a:pPr marL="0" indent="0">
              <a:buNone/>
            </a:pPr>
            <a:r>
              <a:rPr lang="en-US" altLang="zh-CN">
                <a:sym typeface="+mn-ea"/>
              </a:rPr>
              <a:t>2.Comment</a:t>
            </a:r>
            <a:r>
              <a:rPr lang="zh-CN" altLang="en-US">
                <a:sym typeface="+mn-ea"/>
              </a:rPr>
              <a:t>类的多重组成，由于评论自身可以被评论，所以部分评论是其他评论的组成，这种组成关系为</a:t>
            </a:r>
            <a:r>
              <a:rPr lang="en-US" altLang="zh-CN">
                <a:sym typeface="+mn-ea"/>
              </a:rPr>
              <a:t>Comment</a:t>
            </a:r>
            <a:r>
              <a:rPr lang="zh-CN" altLang="en-US">
                <a:sym typeface="+mn-ea"/>
              </a:rPr>
              <a:t>类的删除和增加提供了难点（比如，由于子评论的资源管理是由父评论进行的，因此需要找到父评论再删除，但评论的层数不限，比如父评论之上可能有</a:t>
            </a:r>
            <a:r>
              <a:rPr lang="en-US" altLang="zh-CN">
                <a:sym typeface="+mn-ea"/>
              </a:rPr>
              <a:t>3</a:t>
            </a:r>
            <a:r>
              <a:rPr lang="zh-CN" altLang="en-US">
                <a:sym typeface="+mn-ea"/>
              </a:rPr>
              <a:t>个或者</a:t>
            </a:r>
            <a:r>
              <a:rPr lang="en-US" altLang="zh-CN">
                <a:sym typeface="+mn-ea"/>
              </a:rPr>
              <a:t>4</a:t>
            </a:r>
            <a:r>
              <a:rPr lang="zh-CN" altLang="en-US">
                <a:sym typeface="+mn-ea"/>
              </a:rPr>
              <a:t>个父评论，因此删除不能直接通过</a:t>
            </a:r>
            <a:r>
              <a:rPr lang="en-US" altLang="zh-CN">
                <a:sym typeface="+mn-ea"/>
              </a:rPr>
              <a:t>for</a:t>
            </a:r>
            <a:r>
              <a:rPr lang="zh-CN" altLang="en-US">
                <a:sym typeface="+mn-ea"/>
              </a:rPr>
              <a:t>循环遍历搜索而是通过递归遍历搜索）。</a:t>
            </a:r>
            <a:endParaRPr lang="zh-CN" altLang="en-US"/>
          </a:p>
          <a:p>
            <a:pPr marL="0" indent="0">
              <a:buNone/>
            </a:pPr>
            <a:r>
              <a:rPr lang="en-US" altLang="zh-CN">
                <a:sym typeface="+mn-ea"/>
              </a:rPr>
              <a:t>3.</a:t>
            </a:r>
            <a:r>
              <a:rPr lang="zh-CN" altLang="en-US">
                <a:sym typeface="+mn-ea"/>
              </a:rPr>
              <a:t>数据库在数据读取时由于引用的存在，比如</a:t>
            </a:r>
            <a:r>
              <a:rPr lang="en-US" altLang="zh-CN">
                <a:sym typeface="+mn-ea"/>
              </a:rPr>
              <a:t>User</a:t>
            </a:r>
            <a:r>
              <a:rPr lang="zh-CN" altLang="en-US">
                <a:sym typeface="+mn-ea"/>
              </a:rPr>
              <a:t>类需要保存评论的指针（</a:t>
            </a:r>
            <a:r>
              <a:rPr lang="en-US" altLang="zh-CN">
                <a:sym typeface="+mn-ea"/>
              </a:rPr>
              <a:t>_comment) </a:t>
            </a:r>
            <a:r>
              <a:rPr lang="zh-CN" altLang="en-US">
                <a:sym typeface="+mn-ea"/>
              </a:rPr>
              <a:t>因此，不能直接通过构造函数构造</a:t>
            </a:r>
            <a:r>
              <a:rPr lang="en-US" altLang="zh-CN">
                <a:sym typeface="+mn-ea"/>
              </a:rPr>
              <a:t>Post</a:t>
            </a:r>
            <a:r>
              <a:rPr lang="zh-CN" altLang="en-US">
                <a:sym typeface="+mn-ea"/>
              </a:rPr>
              <a:t>和</a:t>
            </a:r>
            <a:r>
              <a:rPr lang="en-US" altLang="zh-CN">
                <a:sym typeface="+mn-ea"/>
              </a:rPr>
              <a:t>Commnet</a:t>
            </a:r>
            <a:r>
              <a:rPr lang="zh-CN" altLang="en-US">
                <a:sym typeface="+mn-ea"/>
              </a:rPr>
              <a:t>类，而是要按照类似于</a:t>
            </a:r>
            <a:r>
              <a:rPr lang="en-US" altLang="zh-CN">
                <a:sym typeface="+mn-ea"/>
              </a:rPr>
              <a:t>User</a:t>
            </a:r>
            <a:r>
              <a:rPr lang="zh-CN" altLang="en-US">
                <a:sym typeface="+mn-ea"/>
              </a:rPr>
              <a:t>类评论和写文章的成员函数的实现进行编写，也因此会受到以上两点的影响。</a:t>
            </a:r>
            <a:endParaRPr lang="zh-CN" altLang="en-US"/>
          </a:p>
          <a:p>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0080" y="258445"/>
            <a:ext cx="10523220" cy="951230"/>
          </a:xfrm>
        </p:spPr>
        <p:txBody>
          <a:bodyPr/>
          <a:p>
            <a:r>
              <a:rPr lang="zh-CN" altLang="en-US"/>
              <a:t>关键技术及难点</a:t>
            </a:r>
            <a:endParaRPr lang="zh-CN" altLang="en-US"/>
          </a:p>
        </p:txBody>
      </p:sp>
      <p:sp>
        <p:nvSpPr>
          <p:cNvPr id="3" name="内容占位符 2"/>
          <p:cNvSpPr>
            <a:spLocks noGrp="1"/>
          </p:cNvSpPr>
          <p:nvPr>
            <p:ph idx="1"/>
          </p:nvPr>
        </p:nvSpPr>
        <p:spPr>
          <a:xfrm>
            <a:off x="591185" y="1280795"/>
            <a:ext cx="11183620" cy="5344795"/>
          </a:xfrm>
        </p:spPr>
        <p:txBody>
          <a:bodyPr>
            <a:normAutofit lnSpcReduction="20000"/>
          </a:bodyPr>
          <a:p>
            <a:pPr marL="0" indent="0">
              <a:lnSpc>
                <a:spcPct val="120000"/>
              </a:lnSpc>
              <a:buNone/>
            </a:pPr>
            <a:r>
              <a:rPr lang="zh-CN" altLang="en-US">
                <a:latin typeface="+mn-ea"/>
                <a:cs typeface="+mn-ea"/>
              </a:rPr>
              <a:t>套接字通信时，接受信息时接受到对方的端口号与对方用来接受消息的端口号不同，所以发消息时，将己方用来接受消息时的端口号也当作消息一部分传输。</a:t>
            </a:r>
            <a:endParaRPr lang="zh-CN" altLang="en-US">
              <a:latin typeface="+mn-ea"/>
              <a:cs typeface="+mn-ea"/>
            </a:endParaRPr>
          </a:p>
          <a:p>
            <a:pPr marL="0" indent="0">
              <a:lnSpc>
                <a:spcPct val="120000"/>
              </a:lnSpc>
              <a:buNone/>
            </a:pPr>
            <a:r>
              <a:rPr lang="zh-CN" altLang="en-US">
                <a:latin typeface="+mn-ea"/>
                <a:cs typeface="+mn-ea"/>
              </a:rPr>
              <a:t>当账户在其他设备登陆时，这时需要更新数据库的信息，且这时还需避免该账户的ip和端口与其他用户或者服务端一样，且还需要通知其他已在线用户，避免其他账户向该账户发送消息，而该账户接受不到。</a:t>
            </a:r>
            <a:endParaRPr lang="zh-CN" altLang="en-US">
              <a:latin typeface="+mn-ea"/>
              <a:cs typeface="+mn-ea"/>
            </a:endParaRPr>
          </a:p>
          <a:p>
            <a:pPr marL="0" indent="0">
              <a:lnSpc>
                <a:spcPct val="120000"/>
              </a:lnSpc>
              <a:buNone/>
            </a:pPr>
            <a:r>
              <a:rPr lang="zh-CN" altLang="en-US">
                <a:latin typeface="+mn-ea"/>
                <a:cs typeface="+mn-ea"/>
              </a:rPr>
              <a:t>当用户创建某个新信息存入数据库时和从数据库读出保存数据调用同一函数时，需避免重复插入数据库已有信息。</a:t>
            </a:r>
            <a:endParaRPr lang="zh-CN" altLang="en-US">
              <a:latin typeface="+mn-ea"/>
              <a:cs typeface="+mn-ea"/>
            </a:endParaRPr>
          </a:p>
          <a:p>
            <a:pPr marL="0" indent="0">
              <a:lnSpc>
                <a:spcPct val="120000"/>
              </a:lnSpc>
              <a:buNone/>
            </a:pPr>
            <a:r>
              <a:rPr lang="zh-CN" altLang="en-US">
                <a:latin typeface="+mn-ea"/>
                <a:cs typeface="+mn-ea"/>
              </a:rPr>
              <a:t>删除聊天信息时，不应直接将聊天信息从数据库删除，因为聊天信息是双方共有的，对方未删除，则不能将该消息从数据库删除，应设置一个删除标识，当某方删除该条信息，则设置删除标识，而后不再从数据库读取该信息，当双方皆设置时，则删除。</a:t>
            </a:r>
            <a:endParaRPr lang="zh-CN" altLang="en-US">
              <a:latin typeface="+mn-ea"/>
              <a:cs typeface="+mn-ea"/>
            </a:endParaRPr>
          </a:p>
          <a:p>
            <a:pPr marL="0" indent="0">
              <a:lnSpc>
                <a:spcPct val="120000"/>
              </a:lnSpc>
              <a:buNone/>
            </a:pPr>
            <a:r>
              <a:rPr lang="zh-CN" altLang="en-US">
                <a:latin typeface="+mn-ea"/>
                <a:cs typeface="+mn-ea"/>
              </a:rPr>
              <a:t>交互时调用统一函数，应当区分用户自己，用户朋友，用户陌生人，所交互的内容是否一样</a:t>
            </a:r>
            <a:endParaRPr lang="zh-CN" altLang="en-US">
              <a:latin typeface="+mn-ea"/>
              <a:cs typeface="+mn-ea"/>
            </a:endParaRPr>
          </a:p>
          <a:p>
            <a:pPr marL="0" indent="0">
              <a:lnSpc>
                <a:spcPct val="120000"/>
              </a:lnSpc>
              <a:buNone/>
            </a:pPr>
            <a:r>
              <a:rPr lang="zh-CN" altLang="en-US">
                <a:latin typeface="+mn-ea"/>
                <a:cs typeface="+mn-ea"/>
              </a:rPr>
              <a:t>为保证一个账户只在一处登陆，则设置在线标识，如被设置在线标识，则其他地方不许再次登陆</a:t>
            </a:r>
            <a:endParaRPr lang="zh-CN" altLang="en-US">
              <a:latin typeface="+mn-ea"/>
              <a:cs typeface="+mn-ea"/>
            </a:endParaRPr>
          </a:p>
          <a:p>
            <a:pPr marL="0" indent="0">
              <a:lnSpc>
                <a:spcPct val="120000"/>
              </a:lnSpc>
              <a:buNone/>
            </a:pPr>
            <a:r>
              <a:rPr lang="zh-CN" altLang="en-US">
                <a:latin typeface="+mn-ea"/>
                <a:cs typeface="+mn-ea"/>
              </a:rPr>
              <a:t>聊天时，无法区分用户是选择退出聊天界面还是发送的聊天消息，则采用两次输入来判断，但有些影响用户体验，则将判断是否退出的输入改为无缓冲的cin.get()读取。</a:t>
            </a:r>
            <a:endParaRPr lang="zh-CN" altLang="en-US">
              <a:latin typeface="+mn-ea"/>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65785" y="258445"/>
            <a:ext cx="10515600" cy="1325563"/>
          </a:xfrm>
        </p:spPr>
        <p:txBody>
          <a:bodyPr/>
          <a:p>
            <a:r>
              <a:rPr lang="zh-CN" altLang="en-US"/>
              <a:t>心得体会</a:t>
            </a:r>
            <a:endParaRPr lang="zh-CN" altLang="en-US"/>
          </a:p>
        </p:txBody>
      </p:sp>
      <p:sp>
        <p:nvSpPr>
          <p:cNvPr id="3" name="内容占位符 2"/>
          <p:cNvSpPr>
            <a:spLocks noGrp="1"/>
          </p:cNvSpPr>
          <p:nvPr>
            <p:ph idx="1"/>
          </p:nvPr>
        </p:nvSpPr>
        <p:spPr/>
        <p:txBody>
          <a:bodyPr/>
          <a:p>
            <a:r>
              <a:rPr lang="zh-CN" altLang="en-US"/>
              <a:t>朱灿银：开发时沟通很重要，要正确表达自己的想法，不然其他人理解。写代码时要写注释。明确要实现的功能，不然可能写的代码不对。</a:t>
            </a:r>
            <a:endParaRPr lang="zh-CN" altLang="en-US"/>
          </a:p>
          <a:p>
            <a:r>
              <a:rPr lang="zh-CN" altLang="en-US">
                <a:sym typeface="+mn-ea"/>
              </a:rPr>
              <a:t>周俊：开发时的头脑要清晰，要休息好，类的实现时资源管理的处理要想好，迭代开发很重要，心态要放好。</a:t>
            </a:r>
            <a:endParaRPr lang="zh-CN" altLang="en-US"/>
          </a:p>
          <a:p>
            <a:r>
              <a:rPr lang="zh-CN" altLang="en-US"/>
              <a:t>兰寅银：可以绘画最终程序效果图，表明功能，能防止忘记添加功能，保证程序的可拓展性，避免后期增加功能时返工，及时与组员交流，避免组员间以不同的想法开发，使得后期无法整合。</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1745</Words>
  <Application>WPS 演示</Application>
  <PresentationFormat>宽屏</PresentationFormat>
  <Paragraphs>51</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宋体</vt:lpstr>
      <vt:lpstr>Wingdings</vt:lpstr>
      <vt:lpstr>方正书宋_GBK</vt:lpstr>
      <vt:lpstr>Calibri Light</vt:lpstr>
      <vt:lpstr>微软雅黑</vt:lpstr>
      <vt:lpstr>宋体</vt:lpstr>
      <vt:lpstr>Arial Unicode MS</vt:lpstr>
      <vt:lpstr>Calibri</vt:lpstr>
      <vt:lpstr>WPS</vt:lpstr>
      <vt:lpstr>聊天系统</vt:lpstr>
      <vt:lpstr>PowerPoint 演示文稿</vt:lpstr>
      <vt:lpstr>分工</vt:lpstr>
      <vt:lpstr>关键技术及难点</vt:lpstr>
      <vt:lpstr>关键技术及难点</vt:lpstr>
      <vt:lpstr>关键技术及难点</vt:lpstr>
      <vt:lpstr>心得体会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root</cp:lastModifiedBy>
  <cp:revision>23</cp:revision>
  <dcterms:created xsi:type="dcterms:W3CDTF">2025-01-03T15:50:45Z</dcterms:created>
  <dcterms:modified xsi:type="dcterms:W3CDTF">2025-01-03T15:50:45Z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2052-12.1.0.17900</vt:lpwstr>
  </property>
  <property fmtid="{D5CDD505-2E9C-101B-9397-08002B2CF9AE}" pid="3" name="ICV">
    <vt:lpwstr>E4E520AB21A46D23D98E77674C4D6031_41</vt:lpwstr>
  </property>
</Properties>
</file>